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MAE (mg/day)</c:v>
                </c:pt>
              </c:strCache>
            </c:strRef>
          </c:tx>
          <c:spPr>
            <a:solidFill>
              <a:srgbClr val="9FB8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Hypertension</c:v>
                </c:pt>
                <c:pt idx="1">
                  <c:v>Diabetes</c:v>
                </c:pt>
                <c:pt idx="2">
                  <c:v>Oncology</c:v>
                </c:pt>
                <c:pt idx="3">
                  <c:v>Renal</c:v>
                </c:pt>
                <c:pt idx="4">
                  <c:v>Average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5.6</c:v>
                </c:pt>
                <c:pt idx="1">
                  <c:v>4.9</c:v>
                </c:pt>
                <c:pt idx="2">
                  <c:v>6.2</c:v>
                </c:pt>
                <c:pt idx="3">
                  <c:v>7.4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MAE (mg/day)</c:v>
                </c:pt>
              </c:strCache>
            </c:strRef>
          </c:tx>
          <c:spPr>
            <a:solidFill>
              <a:srgbClr val="1A326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Hypertension</c:v>
                </c:pt>
                <c:pt idx="1">
                  <c:v>Diabetes</c:v>
                </c:pt>
                <c:pt idx="2">
                  <c:v>Oncology</c:v>
                </c:pt>
                <c:pt idx="3">
                  <c:v>Renal</c:v>
                </c:pt>
                <c:pt idx="4">
                  <c:v>Average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4.3</c:v>
                </c:pt>
                <c:pt idx="1">
                  <c:v>4</c:v>
                </c:pt>
                <c:pt idx="2">
                  <c:v>5.1</c:v>
                </c:pt>
                <c:pt idx="3">
                  <c:v>6.1</c:v>
                </c:pt>
                <c:pt idx="4">
                  <c:v>4.9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fa191635-dd82-4400-a4c7-8025267793d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AUC-ROC</c:v>
                </c:pt>
              </c:strCache>
            </c:strRef>
          </c:tx>
          <c:spPr>
            <a:solidFill>
              <a:srgbClr val="9FB8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Hypertension</c:v>
                </c:pt>
                <c:pt idx="1">
                  <c:v>Diabetes</c:v>
                </c:pt>
                <c:pt idx="2">
                  <c:v>Oncology</c:v>
                </c:pt>
                <c:pt idx="3">
                  <c:v>Renal</c:v>
                </c:pt>
                <c:pt idx="4">
                  <c:v>Average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</c:v>
                </c:pt>
                <c:pt idx="1">
                  <c:v>0.79</c:v>
                </c:pt>
                <c:pt idx="2">
                  <c:v>0.77</c:v>
                </c:pt>
                <c:pt idx="3">
                  <c:v>0.76</c:v>
                </c:pt>
                <c:pt idx="4">
                  <c:v>0.78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AUC-ROC</c:v>
                </c:pt>
              </c:strCache>
            </c:strRef>
          </c:tx>
          <c:spPr>
            <a:solidFill>
              <a:srgbClr val="1A326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Hypertension</c:v>
                </c:pt>
                <c:pt idx="1">
                  <c:v>Diabetes</c:v>
                </c:pt>
                <c:pt idx="2">
                  <c:v>Oncology</c:v>
                </c:pt>
                <c:pt idx="3">
                  <c:v>Renal</c:v>
                </c:pt>
                <c:pt idx="4">
                  <c:v>Average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0.88</c:v>
                </c:pt>
                <c:pt idx="1">
                  <c:v>0.89</c:v>
                </c:pt>
                <c:pt idx="2">
                  <c:v>0.9</c:v>
                </c:pt>
                <c:pt idx="3">
                  <c:v>0.87</c:v>
                </c:pt>
                <c:pt idx="4">
                  <c:v>0.89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5"/>
          <c:min val="0.65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8ca04769-48f6-4b0c-af42-e64c3eb9078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98118-419E-1240-9C3C-AC8BCE15E16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C657F-EE3F-7043-901E-C63E3EEC8BC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 and Dosage Recommendation Based on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Generative AI Using Patient-Specific Modeling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Vemula Syam Prakash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24FE1F00I3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 of Computer Applications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VLITS.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846320" y="2926080"/>
            <a:ext cx="384048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K. </a:t>
            </a:r>
            <a:r>
              <a:rPr lang="en-I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Navya Blessi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Assistant Professor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VLITS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0" y="1371600"/>
            <a:ext cx="53035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Abstract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Gaps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System Architecture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System Methodology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System Methodology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 of Proposed System</a:t>
            </a:r>
            <a:endParaRPr lang="en-US" sz="14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>
              <a:spcAft>
                <a:spcPts val="400"/>
              </a:spcAft>
            </a:pPr>
            <a:r>
              <a:rPr lang="en-IN" altLang="en-US" sz="1400" b="1" dirty="0"/>
              <a:t>System Requirements - Hardware</a:t>
            </a:r>
            <a:endParaRPr lang="en-IN" altLang="en-US" sz="1400" b="1" dirty="0"/>
          </a:p>
          <a:p>
            <a:pPr>
              <a:spcAft>
                <a:spcPts val="400"/>
              </a:spcAft>
            </a:pPr>
            <a:r>
              <a:rPr lang="en-IN" altLang="en-US" sz="1400" b="1" dirty="0"/>
              <a:t>System</a:t>
            </a:r>
            <a:r>
              <a:rPr lang="en-IN" altLang="en-US" sz="1400" b="1" dirty="0"/>
              <a:t> Requirements - software</a:t>
            </a:r>
            <a:endParaRPr lang="en-IN" altLang="en-US" sz="1400" dirty="0"/>
          </a:p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Used — ADR-20K</a:t>
            </a:r>
            <a:endParaRPr lang="en-US" sz="14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>
              <a:spcAft>
                <a:spcPts val="400"/>
              </a:spcAft>
            </a:pPr>
            <a:r>
              <a:rPr lang="en-IN" alt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Reuslts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ABSTRACT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" y="1371600"/>
            <a:ext cx="859536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presents a Drug and Dosage Recommendation System based on Explainable Generative AI using Patient-Specific Modeling. Traditional drug recommendation systems use population-averaged guidelines and fail to account for individual patient variations, leading to Adverse Drug Reactions (ADRs) and suboptimal outcomes. This system introduces a framework integrating a Retrieval-Augmented Generation (RAG) module, a Patient-Specific Model (PSM), a Digital Twin Simulator, and a Reinforcement Learning (RL) policy for real-time dosage optimization. The ADR-20K dataset with 20,030 patient records (75% real EHR + 25% GAN-synthesized) across four cohorts — Hypertension, Diabetes, Oncology, and Renal Impairment — is used for training and evaluation. SHAP-based Explainable AI (XAI) ensures clinical transparency. Results show 18.3% improvement in dosage MAE, 22% reduction in ADR risk, AUC-ROC improvement from 0.78 to 0.89, and a 36% increase in clinician confidence.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1371600"/>
            <a:ext cx="850392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Personalized medicine requires drug dosages tailored to individual patient physiology, genetics, and comorbidities — not one-size-fits-all guidelines.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drug recommendation systems rely on population-averaged protocols, leading to under-dosing, over-dosing, and Adverse Drug Reactions (ADRs).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ADRs affect approximately 12.5% of hospitalized patients, contributing to significant morbidity, mortality, and increased healthcare costs.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rise of Electronic Health Records (EHR) and AI provides an opportunity to build intelligent, patient-specific drug recommendation systems.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AI (XAI) bridges the gap between black-box AI predictions and clinical trust — enabling doctors to understand and validate AI-driven dosage decisions.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proposes a Generative AI framework with Digital Twin simulation to predict optimal drug dosage while minimizing ADR risk in real-time.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1371600"/>
            <a:ext cx="850392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Kidney function (GFR), liver enzymes, body weight, and genetic markers vary significantly between patients — all affecting drug metabolism and safe dosage levels.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Reinforcement Learning enables the AI model to continuously adapt dosage recommendations as patient health metrics change over time.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Twin simulation creates a virtual patient model to safely test and optimize drug-dosage scenarios before clinical administration.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(Retrieval-Augmented Generation) integrates real-time clinical literature and patient history to generate context-aware dosage recommendations.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covers four major patient cohorts: Hypertension, Diabetes, Oncology, and Renal Impairment.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values reveal the contribution of each feature (e.g., GFR, age, weight) to each dosage prediction, enabling full clinical transparency.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1371600"/>
            <a:ext cx="85039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CDSS used rule-based engines and population guidelines for drug prescribing, lacking patient personalization (Shortliffe et al., 1975).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models like Random Forest and SVM predicted ADRs using patient demographics and lab values, achieving moderate accuracy (Kourou et al., 2015).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— LSTM and Transformer models — improved drug response prediction by capturing temporal EHR patterns (Choi et al., 2016).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GANs were explored for synthesizing minority-class patient data to overcome class imbalance in medical datasets (Che et al., 2017).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frameworks combined pre-trained LLMs with clinical knowledge bases for explainable, context-aware recommendations (Lewis et al., 2020).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SHAP-based XAI methods provided feature-level transparency in clinical AI, improving physician trust (Lundberg &amp; Lee, 2017).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Twin models in healthcare simulated patient physiology to test drug-dosage scenarios before real-world application (Björnsson et al., 2020).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Federated Learning was proposed to train models across hospitals without sharing sensitive patient data (Rieke et al., 2020).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28600" y="1389888"/>
            <a:ext cx="4251960" cy="1078992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389888"/>
            <a:ext cx="64008" cy="10789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453896"/>
            <a:ext cx="3977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Lack of Patient-Specific Modeling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737360"/>
            <a:ext cx="3977640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systems use population averages and do not model individual patient physiology, genetics, or organ function.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389888"/>
            <a:ext cx="4251960" cy="1078992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389888"/>
            <a:ext cx="64008" cy="10789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453896"/>
            <a:ext cx="3977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Real-Time Dosage Adaptation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1737360"/>
            <a:ext cx="3977640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systems cannot dynamically adjust dosages as patient health metrics (GFR, liver enzymes) change during treatment.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8600" y="2578608"/>
            <a:ext cx="4251960" cy="1078992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" y="2578608"/>
            <a:ext cx="64008" cy="10789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642616"/>
            <a:ext cx="3977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Black-Box AI Decisions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2926080"/>
            <a:ext cx="3977640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deep learning drug models lack transparency, making it difficult for clinicians to trust or validate AI recommendations.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9160" y="2578608"/>
            <a:ext cx="4251960" cy="1078992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2578608"/>
            <a:ext cx="64008" cy="10789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2642616"/>
            <a:ext cx="3977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Insufficient ADR Prediction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46320" y="2926080"/>
            <a:ext cx="3977640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systems focus on drug selection but do not adequately predict and prevent Adverse Drug Reactions at the patient level.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28600" y="3767328"/>
            <a:ext cx="4251960" cy="1078992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28600" y="3767328"/>
            <a:ext cx="64008" cy="10789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3831336"/>
            <a:ext cx="3977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Multi-Cohort Generalization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" y="4114800"/>
            <a:ext cx="3977640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models are trained on single disease cohorts and fail to generalize across Hypertension, Diabetes, Oncology, and Renal patients.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09160" y="3767328"/>
            <a:ext cx="4251960" cy="1078992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09160" y="3767328"/>
            <a:ext cx="64008" cy="10789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3831336"/>
            <a:ext cx="3977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Virtual Simulation (Digital Twin)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46320" y="4114800"/>
            <a:ext cx="3977640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prior system provides a virtual patient simulation environment to safely test dosage scenarios before clinical administration.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7</a:t>
            </a:r>
            <a:endParaRPr lang="en-US" sz="900" dirty="0"/>
          </a:p>
        </p:txBody>
      </p:sp>
      <p:sp>
        <p:nvSpPr>
          <p:cNvPr id="33" name="Text Box 32"/>
          <p:cNvSpPr txBox="1"/>
          <p:nvPr/>
        </p:nvSpPr>
        <p:spPr>
          <a:xfrm>
            <a:off x="3515995" y="882015"/>
            <a:ext cx="3646805" cy="528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b="1"/>
              <a:t>R</a:t>
            </a:r>
            <a:r>
              <a:rPr lang="en-IN" altLang="en-US" b="1"/>
              <a:t>ESEARCH GAPS</a:t>
            </a:r>
            <a:endParaRPr lang="en-IN" altLang="en-US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28600" y="1417320"/>
            <a:ext cx="42519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417320"/>
            <a:ext cx="64008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490472"/>
            <a:ext cx="3977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Scarcity &amp; Imbalance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783080"/>
            <a:ext cx="3977640" cy="9509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patient EHR datasets for rare disease cohorts are scarce and imbalanced, limiting model training and generalization.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42519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417320"/>
            <a:ext cx="64008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490472"/>
            <a:ext cx="3977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Kidney-Function-Aware Dosing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1783080"/>
            <a:ext cx="3977640" cy="9509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AI systems do not dynamically adjust dosage based on GFR stage, risking toxicity or under-treatment.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8600" y="2971800"/>
            <a:ext cx="42519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" y="2971800"/>
            <a:ext cx="64008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3044952"/>
            <a:ext cx="3977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Poor Uncertainty Quantification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3337560"/>
            <a:ext cx="3977640" cy="9509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models give point predictions without confidence intervals, leaving clinicians without a measure of reliability.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9160" y="2971800"/>
            <a:ext cx="42519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2971800"/>
            <a:ext cx="64008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3044952"/>
            <a:ext cx="3977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Federated / Privacy-Preserving Training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46320" y="3337560"/>
            <a:ext cx="3977640" cy="9509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 AI models trained on centralized data raise privacy concerns and regulatory barriers for multi-hospital deployment.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SYSTEM ARCHITECTURE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82880" y="1417320"/>
            <a:ext cx="1463040" cy="71323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1417320"/>
            <a:ext cx="1463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Input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10512" y="1417320"/>
            <a:ext cx="1463040" cy="71323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10512" y="1417320"/>
            <a:ext cx="1463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Guidelines DB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38144" y="1417320"/>
            <a:ext cx="1463040" cy="71323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38144" y="1417320"/>
            <a:ext cx="1463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 Engine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65776" y="1417320"/>
            <a:ext cx="1463040" cy="71323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65776" y="1417320"/>
            <a:ext cx="1463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93408" y="1417320"/>
            <a:ext cx="1463040" cy="71323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1417320"/>
            <a:ext cx="1463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Dosage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82496" y="1664208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0404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10128" y="1664208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0404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37760" y="1664208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04040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65392" y="1664208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0404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74320" y="228600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Components: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0040" y="2578608"/>
            <a:ext cx="8503920" cy="2240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Population-based clinical guidelines (WHO/FDA protocols) used as primary knowledge source for drug selection.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inference engines map patient symptoms and diagnosis codes to pre-approved drug-dosage combinations.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Dosage calculated using body-weight formulas and standard reference ranges — no real-time physiological adaptation.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feedback loop — system cannot update recommendations based on patient response or changing lab values.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SYSTEM METHODOLOGY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1408176"/>
            <a:ext cx="347472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408176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1389888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06040" y="1389888"/>
            <a:ext cx="6217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data collected from hospital EHR systems — no real-time updates.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4320" y="1792224"/>
            <a:ext cx="859536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2002536"/>
            <a:ext cx="347472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2002536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1984248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 Selection: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606040" y="1984248"/>
            <a:ext cx="6217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Drugs selected based on diagnosis code matching against clinical guideline databases (ICD-10).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74320" y="2386584"/>
            <a:ext cx="859536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596896"/>
            <a:ext cx="347472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596896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13232" y="2578608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Dosage Calculation: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606040" y="2578608"/>
            <a:ext cx="6217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Dosage computed using static formulas (Cockcroft-Gault) based on body weight, age, and creatinine.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74320" y="2980944"/>
            <a:ext cx="859536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" y="3191256"/>
            <a:ext cx="347472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3191256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13232" y="3172968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ADR Monitoring: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606040" y="3172968"/>
            <a:ext cx="6217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ADRs monitored manually post-administration — no proactive AI-based prediction or prevention.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74320" y="3575304"/>
            <a:ext cx="859536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3785616"/>
            <a:ext cx="347472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3785616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13232" y="3767328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606040" y="3767328"/>
            <a:ext cx="6217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dosage recommendation generated — same dose for all patients with similar diagnosis.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274320" y="4169664"/>
            <a:ext cx="859536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320" y="4379976"/>
            <a:ext cx="347472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4379976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13232" y="4361688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Feedback: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2606040" y="4361688"/>
            <a:ext cx="6217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automated learning loop; guideline updates are manual and periodic.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LEARNING — NEW METHODOLOGY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28600" y="1389888"/>
            <a:ext cx="3977640" cy="141732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389888"/>
            <a:ext cx="64008" cy="14173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444752"/>
            <a:ext cx="3703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Ensemble Learning?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737360"/>
            <a:ext cx="3703320" cy="10241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Combining multiple ML models instead of one. Each model makes its own prediction, then all predictions are combined. Different models learn different patterns → errors cancel out → accuracy improves.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2898648"/>
            <a:ext cx="3977640" cy="914400"/>
          </a:xfrm>
          <a:prstGeom prst="rect">
            <a:avLst/>
          </a:prstGeom>
          <a:solidFill>
            <a:srgbClr val="1A3263"/>
          </a:solidFill>
          <a:ln w="12700">
            <a:solidFill>
              <a:srgbClr val="1A32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" y="2898648"/>
            <a:ext cx="3977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Used in This System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1208" y="3264408"/>
            <a:ext cx="1005840" cy="50292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3264408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600200" y="3264408"/>
            <a:ext cx="1005840" cy="50292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00200" y="3264408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679192" y="3264408"/>
            <a:ext cx="1005840" cy="50292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79192" y="3264408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Network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28600" y="3858768"/>
            <a:ext cx="397764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1A7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3858768"/>
            <a:ext cx="3794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Benefits: 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accuracy • Reduced errors • More reliable • Ideal for medical AI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389120" y="1389888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Ensemble Learning Works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89120" y="1719072"/>
            <a:ext cx="4480560" cy="475488"/>
          </a:xfrm>
          <a:prstGeom prst="rect">
            <a:avLst/>
          </a:prstGeom>
          <a:solidFill>
            <a:srgbClr val="1A3263"/>
          </a:solidFill>
          <a:ln w="12700">
            <a:solidFill>
              <a:srgbClr val="1A326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0" y="1719072"/>
            <a:ext cx="44805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 Train Multiple Models on ADR-20K Dataset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0" y="2194560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72C4"/>
                </a:solidFill>
              </a:rPr>
              <a:t>↓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389120" y="2377440"/>
            <a:ext cx="4480560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0" y="2377440"/>
            <a:ext cx="44805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 Each Model Predicts Drug Dosage / ADR Risk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92240" y="2852928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72C4"/>
                </a:solidFill>
              </a:rPr>
              <a:t>↓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89120" y="3035808"/>
            <a:ext cx="4480560" cy="475488"/>
          </a:xfrm>
          <a:prstGeom prst="rect">
            <a:avLst/>
          </a:prstGeom>
          <a:solidFill>
            <a:srgbClr val="1A3263"/>
          </a:solidFill>
          <a:ln w="12700">
            <a:solidFill>
              <a:srgbClr val="1A326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0" y="3035808"/>
            <a:ext cx="44805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 Combine via Averaging / Voting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92240" y="3511296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72C4"/>
                </a:solidFill>
              </a:rPr>
              <a:t>↓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389120" y="3694176"/>
            <a:ext cx="4480560" cy="475488"/>
          </a:xfrm>
          <a:prstGeom prst="rect">
            <a:avLst/>
          </a:prstGeom>
          <a:solidFill>
            <a:srgbClr val="1A7A1A"/>
          </a:solidFill>
          <a:ln w="12700">
            <a:solidFill>
              <a:srgbClr val="1A7A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89120" y="3694176"/>
            <a:ext cx="44805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 Final Accurate Dosage / ADR Prediction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389120" y="3858768"/>
            <a:ext cx="448056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9A7D0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80560" y="3858768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7D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RF=50mg • XGBoost=52mg • Transformer=49mg → </a:t>
            </a:r>
            <a:r>
              <a:rPr lang="en-US" sz="11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= 50.3 mg/day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OF EXISTING SYSTEM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1371600"/>
            <a:ext cx="850392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</a:t>
            </a: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Personalization: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Population-averaged dosages ignore individual patient differences in organ function, genetics, and comorbidities.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</a:t>
            </a: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Recommendations: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dosages cannot adapt to real-time changes in patient condition such as worsening kidney function (GFR).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</a:t>
            </a: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ADR Risk: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12.5% of patients experience ADRs due to incorrect dosing — existing systems lack predictive ADR prevention.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</a:t>
            </a: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Explainability: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Black-box or rule-based outputs provide no insight into why a particular drug-dosage was recommended.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</a:t>
            </a: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Simulation: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virtual patient model exists to safely test and validate dosage decisions before clinical administration.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</a:t>
            </a: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Silos: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 data is siloed; systems cannot learn from multi-hospital datasets without privacy-compliant frameworks.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</a:t>
            </a: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Uncertainty Estimation: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Systems provide single-point dosage values without confidence intervals or reliability scores.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</a:t>
            </a: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Guideline Lag: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guidelines are updated infrequently, missing recent pharmacological evidence.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SYSTEM ARCHITECTURE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37160" y="1417320"/>
            <a:ext cx="1499616" cy="713232"/>
          </a:xfrm>
          <a:prstGeom prst="rect">
            <a:avLst/>
          </a:prstGeom>
          <a:solidFill>
            <a:srgbClr val="1A3263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1417320"/>
            <a:ext cx="1499616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EHR Data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801368" y="1417320"/>
            <a:ext cx="1499616" cy="713232"/>
          </a:xfrm>
          <a:prstGeom prst="rect">
            <a:avLst/>
          </a:prstGeom>
          <a:solidFill>
            <a:srgbClr val="1A3263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01368" y="1417320"/>
            <a:ext cx="1499616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65576" y="1417320"/>
            <a:ext cx="1499616" cy="713232"/>
          </a:xfrm>
          <a:prstGeom prst="rect">
            <a:avLst/>
          </a:prstGeom>
          <a:solidFill>
            <a:srgbClr val="1A3263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65576" y="1417320"/>
            <a:ext cx="1499616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Patient-Specific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(PSM)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129784" y="1417320"/>
            <a:ext cx="1499616" cy="713232"/>
          </a:xfrm>
          <a:prstGeom prst="rect">
            <a:avLst/>
          </a:prstGeom>
          <a:solidFill>
            <a:srgbClr val="1A3263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9784" y="1417320"/>
            <a:ext cx="1499616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Dosage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ADR Output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93992" y="1417320"/>
            <a:ext cx="1499616" cy="713232"/>
          </a:xfrm>
          <a:prstGeom prst="rect">
            <a:avLst/>
          </a:prstGeom>
          <a:solidFill>
            <a:srgbClr val="1A3263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93992" y="1417320"/>
            <a:ext cx="1499616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Explainability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664208" y="1664208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0404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28416" y="1664208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0404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92624" y="1664208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04040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56832" y="1664208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0404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465576" y="2258568"/>
            <a:ext cx="1499616" cy="54864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65576" y="2258568"/>
            <a:ext cx="14996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Twin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059936" y="2148840"/>
            <a:ext cx="3200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72C4"/>
                </a:solidFill>
              </a:rPr>
              <a:t>↑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059936" y="2807208"/>
            <a:ext cx="3200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72C4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465576" y="2935224"/>
            <a:ext cx="1499616" cy="502920"/>
          </a:xfrm>
          <a:prstGeom prst="rect">
            <a:avLst/>
          </a:prstGeom>
          <a:solidFill>
            <a:srgbClr val="EEF3FB"/>
          </a:solidFill>
          <a:ln w="12700">
            <a:solidFill>
              <a:srgbClr val="1A326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65576" y="2935224"/>
            <a:ext cx="14996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 Policy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RAG: Retrieves relevant clinical literature and similar patient records for contextual drug knowledge.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PSM: Builds a personalized pharmacokinetic model per patient using EHR features (GFR, age, weight, genetics).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Twin: Simulates patient response to different dosage scenarios virtually before clinical prescription.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 Policy: Continuously optimizes dosage recommendations using patient feedback and outcome data.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SYSTEM METHODOLOGY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1371600"/>
            <a:ext cx="85039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Data Collection: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EHR records (20,030 samples) across 4 cohorts with 75% real + 25% GAN-synthesized data.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 &amp; Augmentation: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 imputed with GAIN; GAN augmentation for minority cohorts; 70/15/15 train/val/test split.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Patient-Specific Model Training: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Transformer-based model trained on individual patient features — GFR, liver enzymes, age, weight, genetics.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Twin Simulation: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Virtual patient models simulate dosage scenarios and predict outcomes before clinical administration.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RL-Based Dosage Optimization: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 policy iteratively adjusts dosage recommendations to maximize benefit while minimizing ADR probability.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Explainability Integration: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values computed for each prediction to reveal which features drove the recommendation.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Gating &amp; Calibration: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SHAP-gated safety checks flag high-risk predictions; ECE ensures confidence scores are well-calibrated.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&amp; Validation: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evaluated on MAE, AUC-ROC, Jaccard@10, and RRI across all four cohorts.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 OF PROPOSED SYSTEM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1371600"/>
            <a:ext cx="85039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Patient-Specific Dosing: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Recommends dosages tailored to individual GFR, liver function, genetics, and comorbidities.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Adaptation: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Dynamically adjusts drug dosage as patient health metrics change using RL feedback loops.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Explainability: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feature-level explanations enabling clinicians to understand and trust AI recommendations.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22% ADR Reduction: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Proactively predicts and prevents ADRs, achieving 22% reduction in risk across all cohorts.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Twin Safety: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Virtual simulation allows safe testing of dosage scenarios in-silico before clinical administration.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GFR-Aware Kidney Dosing: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Adjusts dosage from 2.5 mg/day (failure) to 12 mg/day (normal GFR) as kidney function improves.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Multi-Cohort Generalization: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on 4 diverse cohorts — generalizes across Hypertension, Diabetes, Oncology, and Renal disease.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36% Clinician Confidence Increase: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transparency combined with high accuracy improves physician trust in AI recommendations.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USED — ADR-20K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28600" y="1389888"/>
            <a:ext cx="1920240" cy="896112"/>
          </a:xfrm>
          <a:prstGeom prst="rect">
            <a:avLst/>
          </a:prstGeom>
          <a:solidFill>
            <a:srgbClr val="1A3263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1389888"/>
            <a:ext cx="1920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20,030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28600" y="192024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04872" y="1389888"/>
            <a:ext cx="1920240" cy="896112"/>
          </a:xfrm>
          <a:prstGeom prst="rect">
            <a:avLst/>
          </a:prstGeom>
          <a:solidFill>
            <a:srgbClr val="1A3263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04872" y="1389888"/>
            <a:ext cx="1920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404872" y="192024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Disease Cohorts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81144" y="1389888"/>
            <a:ext cx="1920240" cy="896112"/>
          </a:xfrm>
          <a:prstGeom prst="rect">
            <a:avLst/>
          </a:prstGeom>
          <a:solidFill>
            <a:srgbClr val="1A3263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81144" y="1389888"/>
            <a:ext cx="1920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75%/25%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581144" y="192024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Real/Synthetic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57416" y="1389888"/>
            <a:ext cx="1920240" cy="896112"/>
          </a:xfrm>
          <a:prstGeom prst="rect">
            <a:avLst/>
          </a:prstGeom>
          <a:solidFill>
            <a:srgbClr val="1A3263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57416" y="1389888"/>
            <a:ext cx="1920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757416" y="192024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 Classes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228600" y="2377440"/>
          <a:ext cx="8686800" cy="233172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2103120"/>
                <a:gridCol w="3383280"/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Cohort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GFR Range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Drugs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Hypertension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5,011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60–89 mL/min (Mild)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ACE Inhibitors, ARBs, Beta-Blockers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Diabetes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5,038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30–59 mL/min (Moderate)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Metformin, Insulin, SGLT-2 Inhibitors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Oncology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4,987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15–29 mL/min (Severe)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Chemotherapy (weight-based dosing)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Renal Impairment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4,994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&lt;15 mL/min (Failure)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Renally-adjusted antibiotics, Diuretics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20,030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All GFR Stages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Multi-drug protocols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KIDNEY FUNCTION (GFR) VS DOSAGE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" y="1389888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GFR increases (kidney function improves), drug clearance rises — allowing higher safe dosages. Our AI model dynamically adjusts recommendations based on real-time GFR.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228600" y="1828800"/>
          <a:ext cx="8686800" cy="233172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737360"/>
                <a:gridCol w="1965960"/>
                <a:gridCol w="1874520"/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GFR Stage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GFR (mL/min)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Kidney Status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 Dosage Adjustment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Example Dose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Stage 5 — Failure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&lt; 15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Kidney Failure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Reduce by 50%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2.5–5 mg/day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354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Stage 4 — Severe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15–29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Severely Reduced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354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Reduce by 25–35%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354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5–7.5 mg/day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A7D0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Stage 3 — Moderate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30–59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Moderately Reduced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A7D0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Reduce by 10–25%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A7D0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7.5–9 mg/day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Stage 2 — Mild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60–89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Mildly Reduced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Standard Dose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9–10 mg/day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7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Stage 1 — Normal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≥ 90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Normal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7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Full/Increased Dose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7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10–12 mg/day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4242816"/>
            <a:ext cx="8686800" cy="237744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" y="4242816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 GFR Increases → Kidney Clears Drug Faster → AI Recommends Higher Safe Dose → Better Therapeutic Effect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RESULTS — DOSAGE PREDICTION (MAE)</a:t>
            </a:r>
            <a:endParaRPr lang="en-US" sz="2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37160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852160" y="1417320"/>
            <a:ext cx="2971800" cy="749808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52160" y="1417320"/>
            <a:ext cx="2971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18.3%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852160" y="1837944"/>
            <a:ext cx="2971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MAE Improvement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52160" y="2286000"/>
            <a:ext cx="2971800" cy="749808"/>
          </a:xfrm>
          <a:prstGeom prst="rect">
            <a:avLst/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52160" y="2286000"/>
            <a:ext cx="2971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23.2%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852160" y="2706624"/>
            <a:ext cx="2971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Best: Hypertension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852160" y="3154680"/>
            <a:ext cx="2971800" cy="749808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52160" y="3154680"/>
            <a:ext cx="2971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17.6%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852160" y="3575304"/>
            <a:ext cx="2971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Renal Improvement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852160" y="4023360"/>
            <a:ext cx="2971800" cy="749808"/>
          </a:xfrm>
          <a:prstGeom prst="rect">
            <a:avLst/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52160" y="4023360"/>
            <a:ext cx="2971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4.9 mg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5852160" y="4443984"/>
            <a:ext cx="2971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Avg MAE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ADR PREDICTION ACCURACY — AUC-ROC</a:t>
            </a:r>
            <a:endParaRPr lang="en-US" sz="2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37160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852160" y="1417320"/>
            <a:ext cx="2971800" cy="749808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52160" y="1417320"/>
            <a:ext cx="2971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0.89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852160" y="1837944"/>
            <a:ext cx="2971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Avg AUC-ROC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52160" y="2286000"/>
            <a:ext cx="2971800" cy="749808"/>
          </a:xfrm>
          <a:prstGeom prst="rect">
            <a:avLst/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52160" y="2286000"/>
            <a:ext cx="2971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852160" y="2706624"/>
            <a:ext cx="2971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ADR Risk Reduction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852160" y="3154680"/>
            <a:ext cx="2971800" cy="749808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52160" y="3154680"/>
            <a:ext cx="2971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0.87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852160" y="3575304"/>
            <a:ext cx="2971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Jaccard@10 Score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852160" y="4023360"/>
            <a:ext cx="2971800" cy="749808"/>
          </a:xfrm>
          <a:prstGeom prst="rect">
            <a:avLst/>
          </a:prstGeom>
          <a:solidFill>
            <a:srgbClr val="F0F4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52160" y="4023360"/>
            <a:ext cx="2971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0.78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5852160" y="4443984"/>
            <a:ext cx="2971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RRI (CI: 0.72–0.85)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METHODOLOGIES TO IMPROVE ACCURACY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1371600"/>
            <a:ext cx="85039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 (GAIN):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EHR values imputed using Generative Adversarial Imputation Networks — preserving statistical distributions better than mean/median imputation.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GAN-Based Data Augmentation: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minority-cohort patient records generated using Conditional GANs to balance dataset and improve rare-disease model training.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 + RL Policy: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 model fine-tuned with Proximal Policy Optimization (PPO) RL for iterative dosage refinement based on simulated outcomes.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Safety Gating: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High-risk predictions (low confidence SHAP profiles) are flagged for clinical review before being issued as dosage recommendations.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ECE Calibration: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Calibration Error minimized using temperature scaling; BCa bootstrap confidence intervals added to all predictions.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</a:t>
            </a: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GFR-Stage-Aware Architecture: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architecture includes a dedicated GFR embedding layer so kidney function stage directly modulates the dosage output pathway.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REQUIREMENTS — HARDWARE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28600" y="1371600"/>
            <a:ext cx="4114800" cy="347472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371600"/>
            <a:ext cx="4114800" cy="40233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1371600"/>
            <a:ext cx="41148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Requirements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828800"/>
            <a:ext cx="38404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Processor: Intel i5 / AMD Ryzen 5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RAM: 8 GB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Storage: 256 GB SSD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GPU: NVIDIA GTX 1050 or equivalent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OS: Windows 10 / Ubuntu 20.04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VRAM: 4 GB minimum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1371600"/>
            <a:ext cx="4114800" cy="3474720"/>
          </a:xfrm>
          <a:prstGeom prst="rect">
            <a:avLst/>
          </a:prstGeom>
          <a:solidFill>
            <a:srgbClr val="EEF3FB"/>
          </a:solidFill>
          <a:ln w="12700">
            <a:solidFill>
              <a:srgbClr val="1A32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371600"/>
            <a:ext cx="4114800" cy="402336"/>
          </a:xfrm>
          <a:prstGeom prst="rect">
            <a:avLst/>
          </a:prstGeom>
          <a:solidFill>
            <a:srgbClr val="1A3263"/>
          </a:solidFill>
          <a:ln w="12700">
            <a:solidFill>
              <a:srgbClr val="1A32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1371600"/>
            <a:ext cx="41148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(Deep Learning)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1828800"/>
            <a:ext cx="38404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Processor: Intel i7 / AMD Ryzen 9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RAM: 32 GB or higher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Storage: 1 TB NVMe SSD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GPU: NVIDIA RTX 3080 / A100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VRAM: 16 GB minimum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Multi-GPU support for distributed training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REQUIREMENTS — SOFTWARE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28600" y="1389888"/>
            <a:ext cx="4251960" cy="109728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389888"/>
            <a:ext cx="64008" cy="10972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453896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System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65760" y="1737360"/>
            <a:ext cx="397764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Windows 10/11 (64-bit)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Ubuntu 20.04 LTS or later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macOS 12+ (Monterey)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389888"/>
            <a:ext cx="4251960" cy="109728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389888"/>
            <a:ext cx="64008" cy="10972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453896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Language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46320" y="1737360"/>
            <a:ext cx="397764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3.9 or higher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 18+ (for RAG services)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8600" y="2578608"/>
            <a:ext cx="4251960" cy="109728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" y="2578608"/>
            <a:ext cx="64008" cy="10972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642616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Libraries &amp; Frameworks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65760" y="2926080"/>
            <a:ext cx="397764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 2.0 / TensorFlow 2.x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Transformers (HuggingFace)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NumPy, Pandas, Scikit-learn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SHAP, LIME (Explainability)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9160" y="2578608"/>
            <a:ext cx="4251960" cy="109728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2578608"/>
            <a:ext cx="64008" cy="10972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2642616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 Tools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846320" y="2926080"/>
            <a:ext cx="397764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Jupyter Notebook / VS Code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(containerized deployment)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&amp; GitHub for version control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28600" y="3767328"/>
            <a:ext cx="4251960" cy="109728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28600" y="3767328"/>
            <a:ext cx="64008" cy="10972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3831336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&amp; Data Tools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65760" y="4114800"/>
            <a:ext cx="397764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/ MongoDB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Spark (large-scale)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JSON, HL7 FHIR (medical formats)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09160" y="3767328"/>
            <a:ext cx="4251960" cy="1097280"/>
          </a:xfrm>
          <a:prstGeom prst="rect">
            <a:avLst/>
          </a:prstGeom>
          <a:solidFill>
            <a:srgbClr val="EE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09160" y="3767328"/>
            <a:ext cx="64008" cy="10972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3831336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2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&amp; Deployment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846320" y="4114800"/>
            <a:ext cx="397764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/ Azure / GCP (GPU cloud)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(REST API for clinical use)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Weights &amp; Biases (tracking)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8686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1371600"/>
            <a:ext cx="8503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presents a comprehensive Explainable Generative AI framework for patient-specific Drug and Dosage Recommendation. By integrating RAG, Patient-Specific Modeling, Digital Twin simulation, and Reinforcement Learning — the system delivers truly personalized drug dosages beyond population-averaged guidelines.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2148840"/>
            <a:ext cx="850392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18.3% MAE Improvement: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dosage prediction error reduced from 6.0 mg/day to 4.9 mg/day across all four cohorts.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22% ADR Risk Reduction: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Proactive ADR prediction and SHAP-gated safety checks significantly reduce Adverse Drug Reactions.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AUC-ROC: 0.78 → 0.89: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ADR prediction accuracy improved substantially across all cohorts.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GFR-Adaptive Dosing: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Dosage auto-adjusts from 2.5 mg/day (kidney failure) to 12 mg/day (normal GFR) as kidney function changes.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36% Clinician Confidence Increase: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explainability enables physicians to understand and trust AI recommendations.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</a:t>
            </a:r>
            <a:r>
              <a:rPr lang="en-US" sz="1300" b="1" dirty="0">
                <a:solidFill>
                  <a:srgbClr val="1A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&amp; Privacy-Ready: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Federated learning architecture enables multi-hospital deployment without sharing sensitive patient data.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" y="4572"/>
            <a:ext cx="2702966" cy="750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07538" y="0"/>
            <a:ext cx="6435547" cy="75072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MASTER OF COMPUTER APPLICATIONS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1828800" y="3429000"/>
            <a:ext cx="5486400" cy="274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493008"/>
            <a:ext cx="8229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 and Dosage Recommendation Based on Explainable Generative AI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913632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Vemula Syam Prakash  |  24FE1F00I3  |  MCA — VLITS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901184"/>
            <a:ext cx="9144000" cy="24140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901184"/>
            <a:ext cx="9006840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Page: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17277</Words>
  <Application>WPS Presentation</Application>
  <PresentationFormat>On-screen Show (16:9)</PresentationFormat>
  <Paragraphs>628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Aptos</vt:lpstr>
      <vt:lpstr>Segoe UI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Rajkumar</cp:lastModifiedBy>
  <cp:revision>4</cp:revision>
  <dcterms:created xsi:type="dcterms:W3CDTF">2026-03-08T15:14:00Z</dcterms:created>
  <dcterms:modified xsi:type="dcterms:W3CDTF">2026-07-24T07:50:45Z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2CED3FBD9A5E448397A22E9A96B681FE_13</vt:lpwstr>
  </property>
</Properties>
</file>